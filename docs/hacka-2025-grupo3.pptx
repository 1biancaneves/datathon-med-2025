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Space Grotesk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SpaceGrotesk-bold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0af1f024_2_42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8b0af1f024_2_42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8b0af1f024_2_42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0af1f024_2_52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8b0af1f024_2_52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8b0af1f024_2_52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b0af1f024_2_68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38b0af1f024_2_68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8b0af1f024_2_68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b0af1f024_2_94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38b0af1f024_2_94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8b0af1f024_2_94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0af1f024_2_109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8b0af1f024_2_109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8b0af1f024_2_109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0af1f024_2_130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8b0af1f024_2_130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8b0af1f024_2_130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b0af1f024_2_146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g38b0af1f024_2_146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8b0af1f024_2_146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b0af1f024_2_165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g38b0af1f024_2_165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8b0af1f024_2_165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b0af1f024_2_181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8b0af1f024_2_181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8b0af1f024_2_181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b0af1f024_2_198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8b0af1f024_2_198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8b0af1f024_2_198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b0af1f024_2_222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38b0af1f024_2_222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8b0af1f024_2_222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b0af1f024_2_242:notes"/>
          <p:cNvSpPr/>
          <p:nvPr>
            <p:ph idx="2" type="sldImg"/>
          </p:nvPr>
        </p:nvSpPr>
        <p:spPr>
          <a:xfrm>
            <a:off x="0" y="0"/>
            <a:ext cx="1875000" cy="187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g38b0af1f024_2_242:notes"/>
          <p:cNvSpPr txBox="1"/>
          <p:nvPr>
            <p:ph idx="1" type="body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8b0af1f024_2_242:notes"/>
          <p:cNvSpPr txBox="1"/>
          <p:nvPr>
            <p:ph idx="12" type="sldNum"/>
          </p:nvPr>
        </p:nvSpPr>
        <p:spPr>
          <a:xfrm>
            <a:off x="0" y="0"/>
            <a:ext cx="2500000" cy="18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DDA3D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0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0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9" Type="http://schemas.openxmlformats.org/officeDocument/2006/relationships/image" Target="../media/image36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31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7" name="Google Shape;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7463" y="2147888"/>
            <a:ext cx="212407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/>
          <p:nvPr/>
        </p:nvSpPr>
        <p:spPr>
          <a:xfrm>
            <a:off x="496119" y="1687562"/>
            <a:ext cx="4722763" cy="1328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pace Grotesk"/>
              <a:buNone/>
            </a:pPr>
            <a:r>
              <a:rPr b="1" lang="pt-PT" sz="28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Desvendando o potencial de cada aluno na Passos Mágicos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5"/>
          <p:cNvSpPr/>
          <p:nvPr/>
        </p:nvSpPr>
        <p:spPr>
          <a:xfrm>
            <a:off x="496119" y="3229124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Uma estratégia orientada por dados para o sucesso educacional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0708" y="4429025"/>
            <a:ext cx="1643292" cy="7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5"/>
          <p:cNvSpPr/>
          <p:nvPr/>
        </p:nvSpPr>
        <p:spPr>
          <a:xfrm>
            <a:off x="8322354" y="4786263"/>
            <a:ext cx="108793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Grupo 3 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/>
          <p:nvPr/>
        </p:nvSpPr>
        <p:spPr>
          <a:xfrm>
            <a:off x="387325" y="304354"/>
            <a:ext cx="5968870" cy="27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pace Grotesk"/>
              <a:buNone/>
            </a:pP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Introdução: A jornada de um aluno contada pelos dados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553269" y="926827"/>
            <a:ext cx="8203406" cy="10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Esta análise transforma dados brutos em um mapa estratégico. </a:t>
            </a:r>
            <a:endParaRPr sz="900"/>
          </a:p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Ela nos permite parar de perguntar "este aluno é bom?" e começar a perguntar "qual é o potencial deste aluno, dadas as suas circunstâncias, e qual é a alavanca mais eficaz para impulsioná-lo?"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6"/>
          <p:cNvSpPr/>
          <p:nvPr/>
        </p:nvSpPr>
        <p:spPr>
          <a:xfrm flipH="1">
            <a:off x="358751" y="802332"/>
            <a:ext cx="28574" cy="1197918"/>
          </a:xfrm>
          <a:prstGeom prst="rect">
            <a:avLst/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961578" y="2420792"/>
            <a:ext cx="4913561" cy="354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Caso Léo: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Um aluno de 10 anos, com dois anos de defasagem, inicia com IPV (Indicador do Ponto de Virada) de 5.9.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961578" y="3177282"/>
            <a:ext cx="4913561" cy="354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Transformação: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O objetivo é ir além do diagnóstico superficial e traçar o caminho para o futuro de Léo e centenas de outros alunos.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961577" y="4032823"/>
            <a:ext cx="4913561" cy="354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Foco Estratégico: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Identificar as alavancas mais eficazes para potencializar a jornada de cada estudante.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5575623" y="4841826"/>
            <a:ext cx="3185741" cy="177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708" y="4757163"/>
            <a:ext cx="1643292" cy="3582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8052" y="1778868"/>
            <a:ext cx="3062957" cy="3062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vros com preenchimento sólido" id="116" name="Google Shape;11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991" y="2400400"/>
            <a:ext cx="489028" cy="489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 mosca com preenchimento sólido" id="117" name="Google Shape;11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754" y="3955484"/>
            <a:ext cx="489028" cy="489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írculos com setas com preenchimento sólido" id="118" name="Google Shape;11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519" y="3163706"/>
            <a:ext cx="517500" cy="5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/>
          <p:nvPr/>
        </p:nvSpPr>
        <p:spPr>
          <a:xfrm>
            <a:off x="496118" y="858962"/>
            <a:ext cx="8151763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Pergunta 1: Como avaliar o potencial de forma justa?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7"/>
          <p:cNvSpPr/>
          <p:nvPr/>
        </p:nvSpPr>
        <p:spPr>
          <a:xfrm>
            <a:off x="496119" y="1374130"/>
            <a:ext cx="7990879" cy="265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pace Grotesk"/>
              <a:buNone/>
            </a:pP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chave para a comparação: O "espelho" de pares semelhantes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96119" y="1852538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comparação justa não se dá olhando para a turma toda, mas para um grupo de alunos que iniciou a jornada com as mesmas condições e perfis.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496119" y="2678236"/>
            <a:ext cx="2622724" cy="1502122"/>
          </a:xfrm>
          <a:prstGeom prst="roundRect">
            <a:avLst>
              <a:gd fmla="val 6087" name="adj"/>
            </a:avLst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496119" y="2659186"/>
            <a:ext cx="2622724" cy="76200"/>
          </a:xfrm>
          <a:prstGeom prst="roundRect">
            <a:avLst>
              <a:gd fmla="val 78139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1594805" y="2465636"/>
            <a:ext cx="425276" cy="425276"/>
          </a:xfrm>
          <a:prstGeom prst="roundRect">
            <a:avLst>
              <a:gd fmla="val 134383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351" y="2571973"/>
            <a:ext cx="17011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7"/>
          <p:cNvSpPr/>
          <p:nvPr/>
        </p:nvSpPr>
        <p:spPr>
          <a:xfrm>
            <a:off x="600521" y="3026485"/>
            <a:ext cx="213099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2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pace Grotesk"/>
              <a:buNone/>
            </a:pPr>
            <a:r>
              <a:rPr b="1" lang="pt-PT" sz="18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Nível de </a:t>
            </a: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Defasagem</a:t>
            </a:r>
            <a:r>
              <a:rPr b="1" lang="pt-PT" sz="18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(IAN)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7"/>
          <p:cNvSpPr/>
          <p:nvPr/>
        </p:nvSpPr>
        <p:spPr>
          <a:xfrm>
            <a:off x="656928" y="3339108"/>
            <a:ext cx="2301106" cy="680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ponto de partida acadêmico e as necessidades iniciais de suporte.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7"/>
          <p:cNvSpPr/>
          <p:nvPr/>
        </p:nvSpPr>
        <p:spPr>
          <a:xfrm>
            <a:off x="3260601" y="2678236"/>
            <a:ext cx="2622724" cy="1502122"/>
          </a:xfrm>
          <a:prstGeom prst="roundRect">
            <a:avLst>
              <a:gd fmla="val 6087" name="adj"/>
            </a:avLst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3260601" y="2659186"/>
            <a:ext cx="2622724" cy="76200"/>
          </a:xfrm>
          <a:prstGeom prst="roundRect">
            <a:avLst>
              <a:gd fmla="val 78139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7"/>
          <p:cNvSpPr/>
          <p:nvPr/>
        </p:nvSpPr>
        <p:spPr>
          <a:xfrm>
            <a:off x="4359288" y="2465636"/>
            <a:ext cx="425276" cy="425276"/>
          </a:xfrm>
          <a:prstGeom prst="roundRect">
            <a:avLst>
              <a:gd fmla="val 134383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6833" y="2571973"/>
            <a:ext cx="17011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/>
          <p:nvPr/>
        </p:nvSpPr>
        <p:spPr>
          <a:xfrm>
            <a:off x="3421410" y="303259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7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pace Grotesk"/>
              <a:buNone/>
            </a:pP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Tipo de Instituição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3421410" y="3339108"/>
            <a:ext cx="2301106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Escola Pública ou Bolsista, refletindo o contexto de origem.</a:t>
            </a:r>
            <a:endParaRPr sz="900"/>
          </a:p>
        </p:txBody>
      </p:sp>
      <p:sp>
        <p:nvSpPr>
          <p:cNvPr id="139" name="Google Shape;139;p27"/>
          <p:cNvSpPr/>
          <p:nvPr/>
        </p:nvSpPr>
        <p:spPr>
          <a:xfrm>
            <a:off x="6025083" y="2678236"/>
            <a:ext cx="2622724" cy="1502122"/>
          </a:xfrm>
          <a:prstGeom prst="roundRect">
            <a:avLst>
              <a:gd fmla="val 6087" name="adj"/>
            </a:avLst>
          </a:prstGeom>
          <a:solidFill>
            <a:srgbClr val="D8E268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6025083" y="2659186"/>
            <a:ext cx="2622724" cy="76200"/>
          </a:xfrm>
          <a:prstGeom prst="roundRect">
            <a:avLst>
              <a:gd fmla="val 78139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/>
          <p:nvPr/>
        </p:nvSpPr>
        <p:spPr>
          <a:xfrm>
            <a:off x="7123770" y="2465636"/>
            <a:ext cx="425276" cy="425276"/>
          </a:xfrm>
          <a:prstGeom prst="roundRect">
            <a:avLst>
              <a:gd fmla="val 134383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1316" y="2571973"/>
            <a:ext cx="17011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/>
        </p:nvSpPr>
        <p:spPr>
          <a:xfrm>
            <a:off x="6185892" y="3032596"/>
            <a:ext cx="183222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7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pace Grotesk"/>
              <a:buNone/>
            </a:pP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 na Associação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6185892" y="3339108"/>
            <a:ext cx="2301106" cy="680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Ingressante ou Veterano, indicando a influência da Passos Mágicos.</a:t>
            </a:r>
            <a:endParaRPr sz="900"/>
          </a:p>
        </p:txBody>
      </p:sp>
      <p:pic>
        <p:nvPicPr>
          <p:cNvPr id="145" name="Google Shape;14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3146" y="4452841"/>
            <a:ext cx="2049583" cy="690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296838" y="283068"/>
            <a:ext cx="4900315" cy="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46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potencial visto pelo ponto de partida (IPV por defasagem)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708" y="4392886"/>
            <a:ext cx="1643292" cy="7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/>
          <p:nvPr/>
        </p:nvSpPr>
        <p:spPr>
          <a:xfrm>
            <a:off x="296838" y="846368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Indicador do Ponto de Virada (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IPV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) mostra o potencial real quando ajustado pelo nível de </a:t>
            </a:r>
            <a:endParaRPr sz="900"/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defasagem inicial do aluno. A base de comparação deve ser o subgrupo de origem.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54" name="Google Shape;154;p28"/>
          <p:cNvGrpSpPr/>
          <p:nvPr/>
        </p:nvGrpSpPr>
        <p:grpSpPr>
          <a:xfrm>
            <a:off x="1330781" y="1606896"/>
            <a:ext cx="5874475" cy="2785989"/>
            <a:chOff x="1685152" y="2712651"/>
            <a:chExt cx="10315981" cy="4998914"/>
          </a:xfrm>
        </p:grpSpPr>
        <p:pic>
          <p:nvPicPr>
            <p:cNvPr descr="preencoded.png" id="155" name="Google Shape;15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85152" y="2712651"/>
              <a:ext cx="10315981" cy="49989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28"/>
            <p:cNvSpPr/>
            <p:nvPr/>
          </p:nvSpPr>
          <p:spPr>
            <a:xfrm>
              <a:off x="3207833" y="3367006"/>
              <a:ext cx="680224" cy="606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5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7.46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5583044" y="3727989"/>
              <a:ext cx="680224" cy="606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5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6.8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7880196" y="3947995"/>
              <a:ext cx="680224" cy="606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5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6.35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59" name="Google Shape;159;p28"/>
            <p:cNvSpPr/>
            <p:nvPr/>
          </p:nvSpPr>
          <p:spPr>
            <a:xfrm>
              <a:off x="10177348" y="4148254"/>
              <a:ext cx="680224" cy="606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5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5.91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60" name="Google Shape;160;p28"/>
          <p:cNvSpPr/>
          <p:nvPr/>
        </p:nvSpPr>
        <p:spPr>
          <a:xfrm>
            <a:off x="296838" y="4527959"/>
            <a:ext cx="8742620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Conclusão: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Um aluno com 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"Defasagem Severa" que alcança um IPV de 6.5 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está, na verdade,</a:t>
            </a:r>
            <a:endParaRPr sz="900"/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muito acima da média para suas condições iniciais, demonstrando um potencial notável.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7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 rot="-5400000">
            <a:off x="192492" y="2229799"/>
            <a:ext cx="1919169" cy="2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IPV médio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/>
        </p:nvSpPr>
        <p:spPr>
          <a:xfrm>
            <a:off x="279499" y="212145"/>
            <a:ext cx="4230886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4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impacto inegável da permanência na passos mágicos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279499" y="642787"/>
            <a:ext cx="3420889" cy="149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98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pace Grotesk"/>
              <a:buNone/>
            </a:pP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Evolução consistente do potencial (IPV) ao longo dos anos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627" y="1734656"/>
            <a:ext cx="5796082" cy="32436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9"/>
          <p:cNvSpPr/>
          <p:nvPr/>
        </p:nvSpPr>
        <p:spPr>
          <a:xfrm>
            <a:off x="279499" y="5835625"/>
            <a:ext cx="8585002" cy="339254"/>
          </a:xfrm>
          <a:prstGeom prst="roundRect">
            <a:avLst>
              <a:gd fmla="val 9888" name="adj"/>
            </a:avLst>
          </a:prstGeom>
          <a:solidFill>
            <a:srgbClr val="FFCFB3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46" y="5956027"/>
            <a:ext cx="99789" cy="7984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/>
          <p:nvPr/>
        </p:nvSpPr>
        <p:spPr>
          <a:xfrm>
            <a:off x="538981" y="5935414"/>
            <a:ext cx="8245674" cy="127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Space Grotesk"/>
              <a:buNone/>
            </a:pPr>
            <a:r>
              <a:rPr lang="pt-PT" sz="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potencial médio dos alunos cresce de 6.54 (1º ano) para 8.20 (6º ano+), validando o modelo pedagógico da associação.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279499" y="1054833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Este gráfico reforça a importância da intervenção e do tempo dedicado na associação. Independentemente do perfil inicial, a permanência eleva o potencial médio dos alunos.</a:t>
            </a:r>
            <a:endParaRPr sz="900"/>
          </a:p>
        </p:txBody>
      </p:sp>
      <p:pic>
        <p:nvPicPr>
          <p:cNvPr id="174" name="Google Shape;17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2518" y="4088668"/>
            <a:ext cx="1261482" cy="10002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29"/>
          <p:cNvGrpSpPr/>
          <p:nvPr/>
        </p:nvGrpSpPr>
        <p:grpSpPr>
          <a:xfrm>
            <a:off x="1352355" y="1874226"/>
            <a:ext cx="4696066" cy="761856"/>
            <a:chOff x="3471999" y="3056978"/>
            <a:chExt cx="7513705" cy="1218969"/>
          </a:xfrm>
        </p:grpSpPr>
        <p:sp>
          <p:nvSpPr>
            <p:cNvPr id="176" name="Google Shape;176;p29"/>
            <p:cNvSpPr/>
            <p:nvPr/>
          </p:nvSpPr>
          <p:spPr>
            <a:xfrm>
              <a:off x="3471999" y="3909802"/>
              <a:ext cx="619770" cy="36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6.54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7" name="Google Shape;177;p29"/>
            <p:cNvSpPr/>
            <p:nvPr/>
          </p:nvSpPr>
          <p:spPr>
            <a:xfrm>
              <a:off x="4888316" y="3686779"/>
              <a:ext cx="619770" cy="36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7.01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8" name="Google Shape;178;p29"/>
            <p:cNvSpPr/>
            <p:nvPr/>
          </p:nvSpPr>
          <p:spPr>
            <a:xfrm>
              <a:off x="6216860" y="3425173"/>
              <a:ext cx="619770" cy="36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7.48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>
              <a:off x="7633177" y="3292770"/>
              <a:ext cx="619770" cy="36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7.8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0" name="Google Shape;180;p29"/>
            <p:cNvSpPr/>
            <p:nvPr/>
          </p:nvSpPr>
          <p:spPr>
            <a:xfrm>
              <a:off x="8949617" y="3109697"/>
              <a:ext cx="619770" cy="36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8.05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9"/>
            <p:cNvSpPr/>
            <p:nvPr/>
          </p:nvSpPr>
          <p:spPr>
            <a:xfrm>
              <a:off x="10365934" y="3056978"/>
              <a:ext cx="619770" cy="36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PT" sz="1100">
                  <a:solidFill>
                    <a:schemeClr val="dk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8.2</a:t>
              </a:r>
              <a:endParaRPr sz="900"/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marR="0" rtl="0" algn="l">
                <a:lnSpc>
                  <a:spcPct val="70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182" name="Google Shape;182;p29"/>
          <p:cNvSpPr txBox="1"/>
          <p:nvPr/>
        </p:nvSpPr>
        <p:spPr>
          <a:xfrm>
            <a:off x="6771813" y="2492481"/>
            <a:ext cx="1919169" cy="1442703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5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 potencial médio dos alunos </a:t>
            </a:r>
            <a:r>
              <a:rPr b="1" i="0" lang="pt-PT" sz="15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cresce de 6.54 (1º ano) para 8.20 (6º ano+), </a:t>
            </a:r>
            <a:r>
              <a:rPr b="0" i="0" lang="pt-PT" sz="15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validando o modelo pedagógico da associação.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 rot="-5400000">
            <a:off x="-444823" y="2708776"/>
            <a:ext cx="1919169" cy="2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28575" lIns="57150" spcFirstLastPara="1" rIns="57150" wrap="square" tIns="28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IPV médio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/>
          <p:nvPr/>
        </p:nvSpPr>
        <p:spPr>
          <a:xfrm>
            <a:off x="496119" y="814016"/>
            <a:ext cx="6379518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Pergunta 2: posicionamento imediato do aluno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496119" y="1305162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É possível ter uma visão inicial da posição do aluno comparando-o diretamente com seus colegas de sala e fase, usando indicadores de ranking já existentes.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64990"/>
            <a:ext cx="425276" cy="4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/>
          <p:nvPr/>
        </p:nvSpPr>
        <p:spPr>
          <a:xfrm>
            <a:off x="496119" y="2667446"/>
            <a:ext cx="259913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pace Grotesk"/>
              <a:buNone/>
            </a:pPr>
            <a:r>
              <a:rPr b="1" lang="pt-PT" sz="1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Classificação na turma (CT_2022)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496119" y="3195414"/>
            <a:ext cx="2599134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Mostra a posição exata do aluno dentro de sua sala de aula, o seu grupo mais próximo. Uma posição alta (ex: 5º de 20) indica que ele está no quartil superior.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064990"/>
            <a:ext cx="425276" cy="4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3272433" y="2667446"/>
            <a:ext cx="2599134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pace Grotesk"/>
              <a:buNone/>
            </a:pPr>
            <a:r>
              <a:rPr b="1" lang="pt-PT" sz="1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Classificação na fase (CF_2022)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3272433" y="3195414"/>
            <a:ext cx="2599134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Indica a posição do aluno em seu nível de aprendizado geral na associação, fornecendo uma visão macro de seu desempenho em relação aos pares.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064990"/>
            <a:ext cx="425276" cy="42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/>
          <p:nvPr/>
        </p:nvSpPr>
        <p:spPr>
          <a:xfrm>
            <a:off x="6048747" y="2667446"/>
            <a:ext cx="200151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pace Grotesk"/>
              <a:buNone/>
            </a:pPr>
            <a:r>
              <a:rPr b="1" lang="pt-PT" sz="1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“fotografia" imediata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6048747" y="2973958"/>
            <a:ext cx="2599134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Estes rankings oferecem um excelente ponto de partida objetivo para qualquer análise mais profunda do desenvolvimento do estudante.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819" y="4495336"/>
            <a:ext cx="2129385" cy="596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/>
          <p:nvPr/>
        </p:nvSpPr>
        <p:spPr>
          <a:xfrm>
            <a:off x="400869" y="498202"/>
            <a:ext cx="5971059" cy="286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4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Pergunta 3: os </a:t>
            </a:r>
            <a:r>
              <a:rPr b="1" i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gaps</a:t>
            </a: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 desempenho entre subgrupos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400869" y="882269"/>
            <a:ext cx="5026373" cy="214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8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Space Grotesk"/>
              <a:buNone/>
            </a:pPr>
            <a:r>
              <a:rPr b="1" lang="pt-PT" sz="17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defasagem final entre alunos de escola pública e bolsistas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/>
          <p:nvPr/>
        </p:nvSpPr>
        <p:spPr>
          <a:xfrm>
            <a:off x="224210" y="2207312"/>
            <a:ext cx="4171131" cy="1841975"/>
          </a:xfrm>
          <a:prstGeom prst="roundRect">
            <a:avLst>
              <a:gd fmla="val 3736" name="adj"/>
            </a:avLst>
          </a:prstGeom>
          <a:solidFill>
            <a:srgbClr val="FFDFCC"/>
          </a:solidFill>
          <a:ln cap="flat" cmpd="sng" w="9525">
            <a:solidFill>
              <a:srgbClr val="B88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1316236" y="2326598"/>
            <a:ext cx="2964582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Indicador de Desempenho Acadêmico (IDA)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/>
          <p:nvPr/>
        </p:nvSpPr>
        <p:spPr>
          <a:xfrm>
            <a:off x="343496" y="2574248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 2021, a média do IDA foi de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6.9 para Bolsistas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e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5.1 para Alunos de Escola Pública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/>
          <p:nvPr/>
        </p:nvSpPr>
        <p:spPr>
          <a:xfrm>
            <a:off x="343496" y="3009347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Isso representa uma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defasagem de 1.8 pontos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no desempenho em provas.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1"/>
          <p:cNvSpPr/>
          <p:nvPr/>
        </p:nvSpPr>
        <p:spPr>
          <a:xfrm>
            <a:off x="4538439" y="2207312"/>
            <a:ext cx="4171131" cy="1841975"/>
          </a:xfrm>
          <a:prstGeom prst="rect">
            <a:avLst/>
          </a:prstGeom>
          <a:solidFill>
            <a:srgbClr val="FFDFCC"/>
          </a:solidFill>
          <a:ln cap="flat" cmpd="sng" w="9525">
            <a:solidFill>
              <a:srgbClr val="E5C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4652963" y="2326598"/>
            <a:ext cx="3185518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 de Desenvolvimento Educacional (INDE)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/>
          <p:nvPr/>
        </p:nvSpPr>
        <p:spPr>
          <a:xfrm>
            <a:off x="4652963" y="2574248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 2021, o INDE dos alunos de Escola Pública foi, em média,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11.4% menor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que o dos Bolsistas.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/>
          <p:nvPr/>
        </p:nvSpPr>
        <p:spPr>
          <a:xfrm>
            <a:off x="4652963" y="3009347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desafio não é de potencial, mas de condições que requerem intervenções personalizadas.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/>
          <p:nvPr/>
        </p:nvSpPr>
        <p:spPr>
          <a:xfrm>
            <a:off x="367307" y="4784218"/>
            <a:ext cx="8342263" cy="183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400869" y="1415065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dados revelam desafios claros e mensuráveis, destacando a necessidade de abordagens distintas devido às diferentes condições de origem.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328" y="4791352"/>
            <a:ext cx="1257672" cy="35214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1"/>
          <p:cNvSpPr/>
          <p:nvPr/>
        </p:nvSpPr>
        <p:spPr>
          <a:xfrm>
            <a:off x="801494" y="4604061"/>
            <a:ext cx="766972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Passos Mágicos deve endereçar esses desafios de formas distintas, considerando que 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condições de origem criam diferentes pontos de partida.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a mosca com preenchimento sólido" id="220" name="Google Shape;2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05" y="4539704"/>
            <a:ext cx="427722" cy="427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/>
          <p:nvPr/>
        </p:nvSpPr>
        <p:spPr>
          <a:xfrm>
            <a:off x="224210" y="2207312"/>
            <a:ext cx="4171131" cy="1841975"/>
          </a:xfrm>
          <a:prstGeom prst="roundRect">
            <a:avLst>
              <a:gd fmla="val 3736" name="adj"/>
            </a:avLst>
          </a:prstGeom>
          <a:solidFill>
            <a:srgbClr val="FFDFCC"/>
          </a:solidFill>
          <a:ln cap="flat" cmpd="sng" w="9525">
            <a:solidFill>
              <a:srgbClr val="B88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1316236" y="2326598"/>
            <a:ext cx="2964582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Indicador de Desempenho Acadêmic (IDA)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343496" y="2574248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 2021, a média do IDA foi de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6.9 para Bolsistas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e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5.1 para Alunos de Escola Pública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343496" y="3009347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Isso representa uma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defasagem de 1.8 pontos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no desempenho em provas.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4538439" y="2207312"/>
            <a:ext cx="4171131" cy="1841975"/>
          </a:xfrm>
          <a:prstGeom prst="rect">
            <a:avLst/>
          </a:prstGeom>
          <a:solidFill>
            <a:srgbClr val="FFDFCC"/>
          </a:solidFill>
          <a:ln cap="flat" cmpd="sng" w="9525">
            <a:solidFill>
              <a:srgbClr val="E5C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4652963" y="2326598"/>
            <a:ext cx="3185518" cy="178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Índice de Desenvolvimento Educacional (INDE)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4652963" y="2574248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 2021, o INDE dos alunos de Escola Pública foi, em média, </a:t>
            </a:r>
            <a:r>
              <a:rPr b="1"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11.4% menor</a:t>
            </a: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que o dos Bolsistas.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4652963" y="3009347"/>
            <a:ext cx="3937323" cy="36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pace Grotesk"/>
              <a:buNone/>
            </a:pPr>
            <a:r>
              <a:rPr lang="pt-PT" sz="10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desafio não é de potencial, mas de condições que requerem intervenções personalizadas.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367307" y="4784218"/>
            <a:ext cx="8342263" cy="183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328" y="4791352"/>
            <a:ext cx="1257672" cy="35214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/>
          <p:nvPr/>
        </p:nvSpPr>
        <p:spPr>
          <a:xfrm>
            <a:off x="801494" y="4604061"/>
            <a:ext cx="7669729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Passos Mágicos deve endereçar esses desafios de formas distintas, considerando que 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condições de origem criam diferentes pontos de partida.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a mosca com preenchimento sólido" id="237" name="Google Shape;23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905" y="4539704"/>
            <a:ext cx="427722" cy="427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3"/>
          <p:cNvGrpSpPr/>
          <p:nvPr/>
        </p:nvGrpSpPr>
        <p:grpSpPr>
          <a:xfrm>
            <a:off x="633710" y="1131491"/>
            <a:ext cx="7402562" cy="3382640"/>
            <a:chOff x="808792" y="1634728"/>
            <a:chExt cx="13012698" cy="6360676"/>
          </a:xfrm>
        </p:grpSpPr>
        <p:pic>
          <p:nvPicPr>
            <p:cNvPr descr="preencoded.png" id="244" name="Google Shape;24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8792" y="1634728"/>
              <a:ext cx="13012698" cy="6360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45" name="Google Shape;245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225" y="3129694"/>
              <a:ext cx="471903" cy="471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46" name="Google Shape;246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55599" y="4073500"/>
              <a:ext cx="471902" cy="4719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47" name="Google Shape;247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65513" y="6055493"/>
              <a:ext cx="471903" cy="4719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3"/>
          <p:cNvSpPr/>
          <p:nvPr/>
        </p:nvSpPr>
        <p:spPr>
          <a:xfrm>
            <a:off x="358527" y="281658"/>
            <a:ext cx="5970166" cy="256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1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solução criativa: O plano de potencial individualizado (PPI)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1656970" y="2119141"/>
            <a:ext cx="1896039" cy="237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6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Diagnóstico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4668534" y="1575172"/>
            <a:ext cx="1896039" cy="237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6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Criação de Trilhas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5309128" y="3478264"/>
            <a:ext cx="1896039" cy="237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6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Implementar PPI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2326748" y="3893506"/>
            <a:ext cx="1896039" cy="237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6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Reavaliação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358527" y="781211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usar a inteligência dos dados para criar um plano de desenvolvimento individualizado e, ao mesmo tempo, escalável para a equipe.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9429" y="4432611"/>
            <a:ext cx="2464571" cy="69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/>
          <p:nvPr/>
        </p:nvSpPr>
        <p:spPr>
          <a:xfrm>
            <a:off x="358527" y="4600659"/>
            <a:ext cx="8426946" cy="327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 inteligência do Machine Learning atua como um </a:t>
            </a: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"diagnóstico inteligente", </a:t>
            </a:r>
            <a:r>
              <a:rPr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identificando a probabilidade do aluno atingir o Ponto de Virada e </a:t>
            </a:r>
            <a:r>
              <a:rPr b="1"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destacando seus pontos fortes e fracos.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/>
          <p:nvPr/>
        </p:nvSpPr>
        <p:spPr>
          <a:xfrm>
            <a:off x="464344" y="368052"/>
            <a:ext cx="4807297" cy="331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9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pace Grotesk"/>
              <a:buNone/>
            </a:pPr>
            <a:r>
              <a:rPr b="1" lang="pt-PT" sz="21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Fatores-chave </a:t>
            </a: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</a:t>
            </a:r>
            <a:r>
              <a:rPr b="1" lang="pt-PT" sz="21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o ponto de virada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1475929" y="1745977"/>
            <a:ext cx="1658392" cy="207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IPP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464344" y="2032843"/>
            <a:ext cx="2669977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Desenvolvimento Psicopedagógico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4321" y="1326431"/>
            <a:ext cx="2875359" cy="2875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5144" y="2123889"/>
            <a:ext cx="186556" cy="2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/>
          <p:nvPr/>
        </p:nvSpPr>
        <p:spPr>
          <a:xfrm>
            <a:off x="6009680" y="1745977"/>
            <a:ext cx="1658392" cy="207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IAA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6009680" y="2032843"/>
            <a:ext cx="2669977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Autoavaliação e Autoconfiança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4321" y="1326431"/>
            <a:ext cx="2875359" cy="2875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2225" y="2123889"/>
            <a:ext cx="186556" cy="2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/>
          <p:nvPr/>
        </p:nvSpPr>
        <p:spPr>
          <a:xfrm>
            <a:off x="6009680" y="3283149"/>
            <a:ext cx="1658392" cy="207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6009680" y="3570014"/>
            <a:ext cx="2669977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Desempenho Acadêmico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34321" y="1326431"/>
            <a:ext cx="2875359" cy="2875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2225" y="3170969"/>
            <a:ext cx="186556" cy="2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475929" y="3283149"/>
            <a:ext cx="1658392" cy="207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IEG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464344" y="3570014"/>
            <a:ext cx="2669977" cy="2122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Space Grotesk"/>
              <a:buNone/>
            </a:pPr>
            <a:r>
              <a:rPr lang="pt-PT" sz="13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Engajamento e Participação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34321" y="1326431"/>
            <a:ext cx="2875359" cy="28753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55144" y="3170969"/>
            <a:ext cx="186556" cy="2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/>
          <p:nvPr/>
        </p:nvSpPr>
        <p:spPr>
          <a:xfrm>
            <a:off x="464344" y="4350990"/>
            <a:ext cx="8215313" cy="424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modelos preditivos apontam que o 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"Ponto de Virada" 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é atingido quando 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há um equilíbrio e crescimento nessas quatro dimensões.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464344" y="798203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sucesso do aluno é uma combinação de desenvolvimento em quatro áreas principais, que orientam as Trilhas de Foco do PPI.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56661" y="4648664"/>
            <a:ext cx="2687339" cy="49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/>
          <p:nvPr/>
        </p:nvSpPr>
        <p:spPr>
          <a:xfrm>
            <a:off x="496119" y="645170"/>
            <a:ext cx="6477596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Space Grotesk"/>
              <a:buNone/>
            </a:pPr>
            <a:r>
              <a:rPr b="1" lang="pt-PT" sz="22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Trilhas de foco: O estímulo certo, na hora certa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496119" y="1208857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 PPI substitui planos genéricos por "trilhas" focadas na maior área de oportunidade de cada aluno, transformando potencial em realidade.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5"/>
          <p:cNvSpPr/>
          <p:nvPr/>
        </p:nvSpPr>
        <p:spPr>
          <a:xfrm>
            <a:off x="496119" y="1896145"/>
            <a:ext cx="2622724" cy="2376166"/>
          </a:xfrm>
          <a:prstGeom prst="roundRect">
            <a:avLst>
              <a:gd fmla="val 4597" name="adj"/>
            </a:avLst>
          </a:prstGeom>
          <a:solidFill>
            <a:srgbClr val="D8E268"/>
          </a:solidFill>
          <a:ln cap="flat" cmpd="sng" w="30475">
            <a:solidFill>
              <a:srgbClr val="E5C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477069" y="1896144"/>
            <a:ext cx="76199" cy="2376166"/>
          </a:xfrm>
          <a:prstGeom prst="roundRect">
            <a:avLst>
              <a:gd fmla="val 78139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714078" y="2056954"/>
            <a:ext cx="1891531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pace Grotesk"/>
              <a:buNone/>
            </a:pPr>
            <a:r>
              <a:rPr b="1" lang="pt-PT" sz="1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Trilha de engajamento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714078" y="2363465"/>
            <a:ext cx="2243956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alunos com bom IDA e IPP, mas baixo IEG. Foco em projetos de voluntariado, monitoria e atividades em grupo para aumentar a participação.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3260601" y="1896145"/>
            <a:ext cx="2622724" cy="2376165"/>
          </a:xfrm>
          <a:prstGeom prst="roundRect">
            <a:avLst>
              <a:gd fmla="val 4597" name="adj"/>
            </a:avLst>
          </a:prstGeom>
          <a:solidFill>
            <a:srgbClr val="D8E268"/>
          </a:solidFill>
          <a:ln cap="flat" cmpd="sng" w="30475">
            <a:solidFill>
              <a:srgbClr val="E5C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3241551" y="1896145"/>
            <a:ext cx="76200" cy="2376165"/>
          </a:xfrm>
          <a:prstGeom prst="roundRect">
            <a:avLst>
              <a:gd fmla="val 78139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5"/>
          <p:cNvSpPr/>
          <p:nvPr/>
        </p:nvSpPr>
        <p:spPr>
          <a:xfrm>
            <a:off x="3478560" y="2056954"/>
            <a:ext cx="187188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pace Grotesk"/>
              <a:buNone/>
            </a:pPr>
            <a:r>
              <a:rPr b="1" lang="pt-PT" sz="1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Trilha de performance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3478560" y="2363465"/>
            <a:ext cx="2243956" cy="113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alunos com alto IEG, mas baixo IDA. Foco em aulas de reforço, tutorias e gincanas acadêmicas para elevar o desempenho em provas.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6025083" y="1896144"/>
            <a:ext cx="2622724" cy="2376164"/>
          </a:xfrm>
          <a:prstGeom prst="roundRect">
            <a:avLst>
              <a:gd fmla="val 4597" name="adj"/>
            </a:avLst>
          </a:prstGeom>
          <a:solidFill>
            <a:srgbClr val="D8E268"/>
          </a:solidFill>
          <a:ln cap="flat" cmpd="sng" w="30475">
            <a:solidFill>
              <a:srgbClr val="E5C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6006033" y="1896144"/>
            <a:ext cx="76200" cy="2376164"/>
          </a:xfrm>
          <a:prstGeom prst="roundRect">
            <a:avLst>
              <a:gd fmla="val 78139" name="adj"/>
            </a:avLst>
          </a:prstGeom>
          <a:solidFill>
            <a:srgbClr val="FE6000"/>
          </a:solid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6243043" y="2056954"/>
            <a:ext cx="203410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pace Grotesk"/>
              <a:buNone/>
            </a:pPr>
            <a:r>
              <a:rPr b="1" lang="pt-PT" sz="16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Trilha de autoconfiança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6243043" y="2363465"/>
            <a:ext cx="2243956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Para alunos com bom desempenho, mas baixo IAA. Foco em sessões de mentoria com a equipe de psicologia e apresentações de projetos para construir autoimagem positiva.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3714" y="4665978"/>
            <a:ext cx="2095793" cy="44059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/>
          <p:nvPr/>
        </p:nvSpPr>
        <p:spPr>
          <a:xfrm>
            <a:off x="477069" y="4498330"/>
            <a:ext cx="8151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"/>
              <a:buNone/>
            </a:pP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Apêndice técnico: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 Toda a análise é replicável através de um script em Python (pandas, seaborn e scikit-learn), garantindo a </a:t>
            </a:r>
            <a:r>
              <a:rPr b="1"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melhoria contínua da estratégia</a:t>
            </a:r>
            <a:r>
              <a:rPr lang="pt-PT" sz="15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0708" y="4429025"/>
            <a:ext cx="1643292" cy="7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6"/>
          <p:cNvSpPr/>
          <p:nvPr/>
        </p:nvSpPr>
        <p:spPr>
          <a:xfrm>
            <a:off x="-195147" y="-224631"/>
            <a:ext cx="9687622" cy="5549338"/>
          </a:xfrm>
          <a:prstGeom prst="roundRect">
            <a:avLst>
              <a:gd fmla="val 3736" name="adj"/>
            </a:avLst>
          </a:prstGeom>
          <a:solidFill>
            <a:srgbClr val="FFDFCC"/>
          </a:solidFill>
          <a:ln cap="flat" cmpd="sng" w="9525">
            <a:solidFill>
              <a:srgbClr val="B88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945860" y="1818713"/>
            <a:ext cx="4722763" cy="52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pace Grotesk"/>
              <a:buNone/>
            </a:pPr>
            <a:r>
              <a:rPr b="1" lang="pt-PT" sz="28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Obrigada!</a:t>
            </a:r>
            <a:endParaRPr sz="900"/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pace Grotesk"/>
              <a:buNone/>
            </a:pPr>
            <a:r>
              <a:rPr b="1" lang="pt-PT" sz="2800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Vamos para as perguntas?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6759" y="1191044"/>
            <a:ext cx="212407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6"/>
          <p:cNvSpPr/>
          <p:nvPr/>
        </p:nvSpPr>
        <p:spPr>
          <a:xfrm>
            <a:off x="5843879" y="2347119"/>
            <a:ext cx="1761522" cy="1465204"/>
          </a:xfrm>
          <a:custGeom>
            <a:rect b="b" l="l" r="r" t="t"/>
            <a:pathLst>
              <a:path extrusionOk="0" h="3160396" w="3724104">
                <a:moveTo>
                  <a:pt x="0" y="0"/>
                </a:moveTo>
                <a:lnTo>
                  <a:pt x="3724104" y="0"/>
                </a:lnTo>
                <a:lnTo>
                  <a:pt x="3724104" y="3160396"/>
                </a:lnTo>
                <a:lnTo>
                  <a:pt x="0" y="3160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8575" lIns="57150" spcFirstLastPara="1" rIns="57150" wrap="square" tIns="2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